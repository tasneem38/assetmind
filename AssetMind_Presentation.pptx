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AssetMind as an AI-native platform that unifies industrial knowledge, predicts failures, and helps engineers make better maintenance decisions through conversational intelligence. This is a working hackathon build, not a mockup — every number on this deck comes from the live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industries already possess enormous amounts of maintenance data, but it remains fragmented across disconnected systems, making decision-making slow and reactive. Cite the $50B downtime figure and the 42% preventable-failure statistic from industry 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AssetMind as a unified intelligence layer combining structured records, OEM documentation, machine learning, and conversational AI. This screenshot is the actual Operations Dashboard rendered from the live React + FastAPI + PostgreSQL stack — 25 real assets, 500 work orders, 100 incidents.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how frontend requests travel through FastAPI, relational data, vector search, predictive models, and the LLM before producing grounded recommendations. The backend registers five routers — equipment, dashboard, insights, predict, ask — all documented with 17 total endpoints.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explain how each capability works together to support maintenance engineers in real-world industrial environments — the Copilot for conversation, RAG for manual lookup, ML for prediction, and Knowledge Gap Detection for prevention.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a single natural-language query activates every component of the platform. The confidence formula starts at 0.50 and adds weighted evidence: +0.05 per incident, +0.03 per inspection, +0.02 per manual citation, capped at 0.95.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modern, scalable technology stack and explain why each technology was chosen — React 19 and Vite 8 for fast frontend iteration, FastAPI for async-first APIs, ChromaDB and Sentence-Transformers for semantic retrieval, and dual ML pipelines for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AssetMind integrates multiple real data sources and two trained AI models into one cohesive platform — 25 assets, 500 work orders, 100 incidents, 50 inspections, 9 OEM manuals, and 17 documented API endpoints, all capable of supporting large-scale industrial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future vision of expanding AssetMind with real-time IoT, enterprise SAP integration, digital twins, and autonomous multi-agent AI — all already scoped in the technical roadmap, alongside authentication, voice interfaces, and an expanded OEM knowledge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reinforcing that AssetMind is more than a maintenance platform — it's the foundation of an AI-powered industrial operating system that transforms how organizations manage assets and make critical decisions. Thank the judges and 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bg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965960"/>
            <a:ext cx="12191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ASSETMIND</a:t>
            </a:r>
            <a:endParaRPr lang="en-US" sz="8000" dirty="0"/>
          </a:p>
        </p:txBody>
      </p:sp>
      <p:sp>
        <p:nvSpPr>
          <p:cNvPr id="4" name="Shape 1"/>
          <p:cNvSpPr/>
          <p:nvPr/>
        </p:nvSpPr>
        <p:spPr>
          <a:xfrm>
            <a:off x="6050128" y="3246120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3456432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INDUSTRIAL ASSET INTELLIGENCE PLATFORM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645920" y="3977640"/>
            <a:ext cx="8899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C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industrial maintenance data into evidence-backed decisions.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Intelligence. Reimagined.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5029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6F8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Submission · Team Crew1.0 · Ballari Institute of Technology &amp; Management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bg_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teams don't have a data problem.</a:t>
            </a:r>
            <a:endParaRPr lang="en-US" sz="3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have an </a:t>
            </a:r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problem.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25146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knowledge exists. It just isn't connected.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3246120"/>
            <a:ext cx="1691640" cy="420624"/>
          </a:xfrm>
          <a:prstGeom prst="roundRect">
            <a:avLst>
              <a:gd name="adj" fmla="val 17391"/>
            </a:avLst>
          </a:prstGeom>
          <a:solidFill>
            <a:srgbClr val="0E1414"/>
          </a:solidFill>
          <a:ln w="12700">
            <a:solidFill>
              <a:srgbClr val="1E2B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2461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CMMS Records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496312" y="3246120"/>
            <a:ext cx="1691640" cy="420624"/>
          </a:xfrm>
          <a:prstGeom prst="roundRect">
            <a:avLst>
              <a:gd name="adj" fmla="val 17391"/>
            </a:avLst>
          </a:prstGeom>
          <a:solidFill>
            <a:srgbClr val="0E1414"/>
          </a:solidFill>
          <a:ln w="12700">
            <a:solidFill>
              <a:srgbClr val="1E2B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96312" y="32461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Sheets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52544" y="3246120"/>
            <a:ext cx="1691640" cy="420624"/>
          </a:xfrm>
          <a:prstGeom prst="roundRect">
            <a:avLst>
              <a:gd name="adj" fmla="val 17391"/>
            </a:avLst>
          </a:prstGeom>
          <a:solidFill>
            <a:srgbClr val="0E1414"/>
          </a:solidFill>
          <a:ln w="12700">
            <a:solidFill>
              <a:srgbClr val="1E2B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52544" y="32461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OEM Manuals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0080" y="3813048"/>
            <a:ext cx="1691640" cy="420624"/>
          </a:xfrm>
          <a:prstGeom prst="roundRect">
            <a:avLst>
              <a:gd name="adj" fmla="val 17391"/>
            </a:avLst>
          </a:prstGeom>
          <a:solidFill>
            <a:srgbClr val="0E1414"/>
          </a:solidFill>
          <a:ln w="12700">
            <a:solidFill>
              <a:srgbClr val="1E2B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81304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Logs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496312" y="3813048"/>
            <a:ext cx="1691640" cy="420624"/>
          </a:xfrm>
          <a:prstGeom prst="roundRect">
            <a:avLst>
              <a:gd name="adj" fmla="val 17391"/>
            </a:avLst>
          </a:prstGeom>
          <a:solidFill>
            <a:srgbClr val="0E1414"/>
          </a:solidFill>
          <a:ln w="12700">
            <a:solidFill>
              <a:srgbClr val="1E2B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96312" y="381304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Reports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352544" y="3813048"/>
            <a:ext cx="1691640" cy="420624"/>
          </a:xfrm>
          <a:prstGeom prst="roundRect">
            <a:avLst>
              <a:gd name="adj" fmla="val 17391"/>
            </a:avLst>
          </a:prstGeom>
          <a:solidFill>
            <a:srgbClr val="0E1414"/>
          </a:solidFill>
          <a:ln w="12700">
            <a:solidFill>
              <a:srgbClr val="1E2B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52544" y="381304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Tribal Knowledge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40080" y="45262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8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across systems → slow, reactive decision-making.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818120" y="914400"/>
            <a:ext cx="3749040" cy="4160520"/>
          </a:xfrm>
          <a:prstGeom prst="roundRect">
            <a:avLst>
              <a:gd name="adj" fmla="val 2927"/>
            </a:avLst>
          </a:prstGeom>
          <a:solidFill>
            <a:srgbClr val="0A1212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228600" dist="50800" dir="16200000">
              <a:srgbClr val="0F766E">
                <a:alpha val="3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09244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IMPACT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092440" y="1554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$50B+</a:t>
            </a:r>
            <a:endParaRPr lang="en-US" sz="5600" dirty="0"/>
          </a:p>
        </p:txBody>
      </p:sp>
      <p:sp>
        <p:nvSpPr>
          <p:cNvPr id="22" name="Text 19"/>
          <p:cNvSpPr/>
          <p:nvPr/>
        </p:nvSpPr>
        <p:spPr>
          <a:xfrm>
            <a:off x="8092440" y="24231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annually to unplanned industrial downtime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092440" y="3200400"/>
            <a:ext cx="3200400" cy="0"/>
          </a:xfrm>
          <a:prstGeom prst="line">
            <a:avLst/>
          </a:prstGeom>
          <a:noFill/>
          <a:ln w="12700">
            <a:solidFill>
              <a:srgbClr val="1E2B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92440" y="33375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4000" dirty="0"/>
          </a:p>
        </p:txBody>
      </p:sp>
      <p:sp>
        <p:nvSpPr>
          <p:cNvPr id="25" name="Text 22"/>
          <p:cNvSpPr/>
          <p:nvPr/>
        </p:nvSpPr>
        <p:spPr>
          <a:xfrm>
            <a:off x="8092440" y="4114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unplanned downtime stems from failures that could have been predicted or prevented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without intelligence creates downtime.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0728655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10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40080" y="6309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</a:t>
            </a:r>
            <a:pPr indent="0" marL="0">
              <a:buNone/>
            </a:pPr>
            <a:r>
              <a:rPr lang="en-US" sz="11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ASSETMIND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Every answer.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 intelligence layer combining structured records, OEM documentation, machine learning, and a conversational AI copilot.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30856" y="1993392"/>
            <a:ext cx="6729984" cy="3849624"/>
          </a:xfrm>
          <a:prstGeom prst="roundRect">
            <a:avLst>
              <a:gd name="adj" fmla="val 14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00000">
                <a:alpha val="22000"/>
              </a:srgbClr>
            </a:outerShdw>
          </a:effectLst>
        </p:spPr>
      </p:sp>
      <p:pic>
        <p:nvPicPr>
          <p:cNvPr id="6" name="Image 0" descr="img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4008" y="2066544"/>
            <a:ext cx="6583680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PostgreSQL-backed dashboard — fleet KPIs, risk distribution, and knowledge gap alerts.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AI platform connecting every maintenance decision.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728655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0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bg_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Data to Decisions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463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maintenance question follows one evidence-grounded pipeline.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2788920"/>
            <a:ext cx="1433387" cy="2331720"/>
          </a:xfrm>
          <a:prstGeom prst="roundRect">
            <a:avLst>
              <a:gd name="adj" fmla="val 5103"/>
            </a:avLst>
          </a:prstGeom>
          <a:solidFill>
            <a:srgbClr val="0E1414"/>
          </a:solidFill>
          <a:ln w="12700">
            <a:solidFill>
              <a:srgbClr val="1E2B2A"/>
            </a:solidFill>
            <a:prstDash val="solid"/>
          </a:ln>
        </p:spPr>
      </p:sp>
      <p:pic>
        <p:nvPicPr>
          <p:cNvPr id="7" name="Image 1" descr="icons/react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606" y="2990088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3502152"/>
            <a:ext cx="12505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SPA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13232" y="4160520"/>
            <a:ext cx="12870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9C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Copilot · Insights</a:t>
            </a:r>
            <a:endParaRPr lang="en-US" sz="830" dirty="0"/>
          </a:p>
        </p:txBody>
      </p:sp>
      <p:sp>
        <p:nvSpPr>
          <p:cNvPr id="10" name="Text 6"/>
          <p:cNvSpPr/>
          <p:nvPr/>
        </p:nvSpPr>
        <p:spPr>
          <a:xfrm>
            <a:off x="2055179" y="37536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2219771" y="2788920"/>
            <a:ext cx="1433387" cy="2331720"/>
          </a:xfrm>
          <a:prstGeom prst="roundRect">
            <a:avLst>
              <a:gd name="adj" fmla="val 5103"/>
            </a:avLst>
          </a:prstGeom>
          <a:solidFill>
            <a:srgbClr val="0E1414"/>
          </a:solidFill>
          <a:ln w="12700">
            <a:solidFill>
              <a:srgbClr val="1E2B2A"/>
            </a:solidFill>
            <a:prstDash val="solid"/>
          </a:ln>
        </p:spPr>
      </p:sp>
      <p:pic>
        <p:nvPicPr>
          <p:cNvPr id="12" name="Image 2" descr="icons/fastapi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297" y="2990088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311211" y="3502152"/>
            <a:ext cx="12505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2292923" y="4160520"/>
            <a:ext cx="12870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9C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routers · CORS · Pydantic v2</a:t>
            </a:r>
            <a:endParaRPr lang="en-US" sz="830" dirty="0"/>
          </a:p>
        </p:txBody>
      </p:sp>
      <p:sp>
        <p:nvSpPr>
          <p:cNvPr id="15" name="Text 10"/>
          <p:cNvSpPr/>
          <p:nvPr/>
        </p:nvSpPr>
        <p:spPr>
          <a:xfrm>
            <a:off x="3634871" y="37536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3799463" y="2788920"/>
            <a:ext cx="1433387" cy="2331720"/>
          </a:xfrm>
          <a:prstGeom prst="roundRect">
            <a:avLst>
              <a:gd name="adj" fmla="val 5103"/>
            </a:avLst>
          </a:prstGeom>
          <a:solidFill>
            <a:srgbClr val="0E1414"/>
          </a:solidFill>
          <a:ln w="12700">
            <a:solidFill>
              <a:srgbClr val="1E2B2A"/>
            </a:solidFill>
            <a:prstDash val="solid"/>
          </a:ln>
        </p:spPr>
      </p:sp>
      <p:pic>
        <p:nvPicPr>
          <p:cNvPr id="17" name="Image 3" descr="icons/postgres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988" y="2990088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890903" y="3502152"/>
            <a:ext cx="12505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15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3872615" y="4160520"/>
            <a:ext cx="12870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9C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assets · 500 WOs · 100 incidents</a:t>
            </a:r>
            <a:endParaRPr lang="en-US" sz="830" dirty="0"/>
          </a:p>
        </p:txBody>
      </p:sp>
      <p:sp>
        <p:nvSpPr>
          <p:cNvPr id="20" name="Text 14"/>
          <p:cNvSpPr/>
          <p:nvPr/>
        </p:nvSpPr>
        <p:spPr>
          <a:xfrm>
            <a:off x="5214562" y="37536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5379154" y="2788920"/>
            <a:ext cx="1433387" cy="2331720"/>
          </a:xfrm>
          <a:prstGeom prst="roundRect">
            <a:avLst>
              <a:gd name="adj" fmla="val 5103"/>
            </a:avLst>
          </a:prstGeom>
          <a:solidFill>
            <a:srgbClr val="0E1414"/>
          </a:solidFill>
          <a:ln w="12700">
            <a:solidFill>
              <a:srgbClr val="1E2B2A"/>
            </a:solidFill>
            <a:prstDash val="solid"/>
          </a:ln>
        </p:spPr>
      </p:sp>
      <p:pic>
        <p:nvPicPr>
          <p:cNvPr id="22" name="Image 4" descr="icons/db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4680" y="2990088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70594" y="3502152"/>
            <a:ext cx="12505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5452306" y="4160520"/>
            <a:ext cx="12870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9C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OEM manuals · 384-dim vectors</a:t>
            </a:r>
            <a:endParaRPr lang="en-US" sz="830" dirty="0"/>
          </a:p>
        </p:txBody>
      </p:sp>
      <p:sp>
        <p:nvSpPr>
          <p:cNvPr id="25" name="Text 18"/>
          <p:cNvSpPr/>
          <p:nvPr/>
        </p:nvSpPr>
        <p:spPr>
          <a:xfrm>
            <a:off x="6794253" y="37536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Shape 19"/>
          <p:cNvSpPr/>
          <p:nvPr/>
        </p:nvSpPr>
        <p:spPr>
          <a:xfrm>
            <a:off x="6958845" y="2788920"/>
            <a:ext cx="1433387" cy="2331720"/>
          </a:xfrm>
          <a:prstGeom prst="roundRect">
            <a:avLst>
              <a:gd name="adj" fmla="val 5103"/>
            </a:avLst>
          </a:prstGeom>
          <a:solidFill>
            <a:srgbClr val="0E1414"/>
          </a:solidFill>
          <a:ln w="12700">
            <a:solidFill>
              <a:srgbClr val="1E2B2A"/>
            </a:solidFill>
            <a:prstDash val="solid"/>
          </a:ln>
        </p:spPr>
      </p:sp>
      <p:pic>
        <p:nvPicPr>
          <p:cNvPr id="27" name="Image 5" descr="icons/chip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4371" y="2990088"/>
            <a:ext cx="402336" cy="40233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50285" y="3502152"/>
            <a:ext cx="12505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7031997" y="4160520"/>
            <a:ext cx="12870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9C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· XGBoost</a:t>
            </a:r>
            <a:endParaRPr lang="en-US" sz="830" dirty="0"/>
          </a:p>
        </p:txBody>
      </p:sp>
      <p:sp>
        <p:nvSpPr>
          <p:cNvPr id="30" name="Text 22"/>
          <p:cNvSpPr/>
          <p:nvPr/>
        </p:nvSpPr>
        <p:spPr>
          <a:xfrm>
            <a:off x="8373945" y="37536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31" name="Shape 23"/>
          <p:cNvSpPr/>
          <p:nvPr/>
        </p:nvSpPr>
        <p:spPr>
          <a:xfrm>
            <a:off x="8538537" y="2788920"/>
            <a:ext cx="1433387" cy="2331720"/>
          </a:xfrm>
          <a:prstGeom prst="roundRect">
            <a:avLst>
              <a:gd name="adj" fmla="val 5103"/>
            </a:avLst>
          </a:prstGeom>
          <a:solidFill>
            <a:srgbClr val="0E1414"/>
          </a:solidFill>
          <a:ln w="12700">
            <a:solidFill>
              <a:srgbClr val="1E2B2A"/>
            </a:solidFill>
            <a:prstDash val="solid"/>
          </a:ln>
        </p:spPr>
      </p:sp>
      <p:pic>
        <p:nvPicPr>
          <p:cNvPr id="32" name="Image 6" descr="icons/brain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4062" y="2990088"/>
            <a:ext cx="402336" cy="40233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629977" y="3502152"/>
            <a:ext cx="12505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 AI 105B</a:t>
            </a:r>
            <a:endParaRPr lang="en-US" sz="1050" dirty="0"/>
          </a:p>
        </p:txBody>
      </p:sp>
      <p:sp>
        <p:nvSpPr>
          <p:cNvPr id="34" name="Text 25"/>
          <p:cNvSpPr/>
          <p:nvPr/>
        </p:nvSpPr>
        <p:spPr>
          <a:xfrm>
            <a:off x="8611689" y="4160520"/>
            <a:ext cx="12870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9C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LLM reasoning</a:t>
            </a:r>
            <a:endParaRPr lang="en-US" sz="830" dirty="0"/>
          </a:p>
        </p:txBody>
      </p:sp>
      <p:sp>
        <p:nvSpPr>
          <p:cNvPr id="35" name="Text 26"/>
          <p:cNvSpPr/>
          <p:nvPr/>
        </p:nvSpPr>
        <p:spPr>
          <a:xfrm>
            <a:off x="9953636" y="37536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36" name="Shape 27"/>
          <p:cNvSpPr/>
          <p:nvPr/>
        </p:nvSpPr>
        <p:spPr>
          <a:xfrm>
            <a:off x="10118228" y="2788920"/>
            <a:ext cx="1433387" cy="2331720"/>
          </a:xfrm>
          <a:prstGeom prst="roundRect">
            <a:avLst>
              <a:gd name="adj" fmla="val 5103"/>
            </a:avLst>
          </a:prstGeom>
          <a:solidFill>
            <a:srgbClr val="0B1A18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7" name="Image 7" descr="icons/users_cy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33754" y="2990088"/>
            <a:ext cx="402336" cy="402336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10209668" y="3502152"/>
            <a:ext cx="12505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Engineer</a:t>
            </a:r>
            <a:endParaRPr lang="en-US" sz="1050" dirty="0"/>
          </a:p>
        </p:txBody>
      </p:sp>
      <p:sp>
        <p:nvSpPr>
          <p:cNvPr id="39" name="Text 29"/>
          <p:cNvSpPr/>
          <p:nvPr/>
        </p:nvSpPr>
        <p:spPr>
          <a:xfrm>
            <a:off x="10191380" y="4160520"/>
            <a:ext cx="12870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9C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Evidence-backed recommendation</a:t>
            </a:r>
            <a:endParaRPr lang="en-US" sz="830" dirty="0"/>
          </a:p>
        </p:txBody>
      </p:sp>
      <p:sp>
        <p:nvSpPr>
          <p:cNvPr id="40" name="Text 30"/>
          <p:cNvSpPr/>
          <p:nvPr/>
        </p:nvSpPr>
        <p:spPr>
          <a:xfrm>
            <a:off x="64008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answer is evidence-backed.</a:t>
            </a:r>
            <a:endParaRPr lang="en-US" sz="1300" dirty="0"/>
          </a:p>
        </p:txBody>
      </p:sp>
      <p:sp>
        <p:nvSpPr>
          <p:cNvPr id="41" name="Text 31"/>
          <p:cNvSpPr/>
          <p:nvPr/>
        </p:nvSpPr>
        <p:spPr>
          <a:xfrm>
            <a:off x="640080" y="5870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REST endpoints across equipment, dashboard, insights, predict, and ask routers.</a:t>
            </a:r>
            <a:endParaRPr lang="en-US" sz="1050" dirty="0"/>
          </a:p>
        </p:txBody>
      </p:sp>
      <p:sp>
        <p:nvSpPr>
          <p:cNvPr id="42" name="Text 32"/>
          <p:cNvSpPr/>
          <p:nvPr/>
        </p:nvSpPr>
        <p:spPr>
          <a:xfrm>
            <a:off x="10728655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/  10</a:t>
            </a:r>
            <a:endParaRPr lang="en-US" sz="900" dirty="0"/>
          </a:p>
        </p:txBody>
      </p:sp>
      <p:sp>
        <p:nvSpPr>
          <p:cNvPr id="43" name="Text 33"/>
          <p:cNvSpPr/>
          <p:nvPr/>
        </p:nvSpPr>
        <p:spPr>
          <a:xfrm>
            <a:off x="640080" y="6309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</a:t>
            </a:r>
            <a:pPr indent="0" marL="0">
              <a:buNone/>
            </a:pPr>
            <a:r>
              <a:rPr lang="en-US" sz="11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AI capabilities. </a:t>
            </a:r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66928" cy="566928"/>
          </a:xfrm>
          <a:prstGeom prst="ellipse">
            <a:avLst/>
          </a:prstGeom>
          <a:solidFill>
            <a:srgbClr val="E8F4F2"/>
          </a:solidFill>
          <a:ln/>
        </p:spPr>
      </p:sp>
      <p:pic>
        <p:nvPicPr>
          <p:cNvPr id="6" name="Image 0" descr="icons/commen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945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391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Copilot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3865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/ask/copilot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32688" y="27432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56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RAG + PostgreSQL + Sarvam AI 105B. Natural-language troubleshooting grounded in real equipment history and OEM manuals.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09360" y="17830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E8F4F2"/>
          </a:solidFill>
          <a:ln/>
        </p:spPr>
      </p:sp>
      <p:pic>
        <p:nvPicPr>
          <p:cNvPr id="12" name="Image 1" descr="icons/boo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945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20391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Engine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315200" y="23865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/ask/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6601968" y="27432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56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OEM manuals chunked (800 chars, 100 overlap) and embedded with all-MiniLM-L6-v2 into ChromaDB for instant manual search.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" y="3950208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4224528"/>
            <a:ext cx="566928" cy="566928"/>
          </a:xfrm>
          <a:prstGeom prst="ellipse">
            <a:avLst/>
          </a:prstGeom>
          <a:solidFill>
            <a:srgbClr val="E8F4F2"/>
          </a:solidFill>
          <a:ln/>
        </p:spPr>
      </p:sp>
      <p:pic>
        <p:nvPicPr>
          <p:cNvPr id="18" name="Image 2" descr="icons/chart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36168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42062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Maintenance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645920" y="455371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/predict/*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932688" y="491032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56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predicts failure probability (UCI AI4I); XGBoost estimates Remaining Useful Life (NASA CMAPSS FD001).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309360" y="3950208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83680" y="4224528"/>
            <a:ext cx="566928" cy="566928"/>
          </a:xfrm>
          <a:prstGeom prst="ellipse">
            <a:avLst/>
          </a:prstGeom>
          <a:solidFill>
            <a:srgbClr val="E8F4F2"/>
          </a:solidFill>
          <a:ln/>
        </p:spPr>
      </p:sp>
      <p:pic>
        <p:nvPicPr>
          <p:cNvPr id="24" name="Image 3" descr="icons/shield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361688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15200" y="42062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Gap Detection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315200" y="455371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/insights/knowledge-gaps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6601968" y="491032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56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Correlates inspection risk scores ≥ 75 with incident history to surface preventable failures before they recur.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40080" y="629107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that doesn't just answer questions — it prevents failures.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10728655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0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/ 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bg_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WORKFLOW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one question. Activate every layer.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5074920" cy="566928"/>
          </a:xfrm>
          <a:prstGeom prst="roundRect">
            <a:avLst>
              <a:gd name="adj" fmla="val 19355"/>
            </a:avLst>
          </a:prstGeom>
          <a:solidFill>
            <a:srgbClr val="0F766E"/>
          </a:solidFill>
          <a:ln/>
          <a:effectLst>
            <a:outerShdw sx="100000" sy="100000" kx="0" ky="0" algn="bl" rotWithShape="0" blurRad="228600" dist="50800" dir="16200000">
              <a:srgbClr val="0F766E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6916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is Pump PMP-CW-101 failing?"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487168"/>
            <a:ext cx="237744" cy="237744"/>
          </a:xfrm>
          <a:prstGeom prst="ellipse">
            <a:avLst/>
          </a:prstGeom>
          <a:solidFill>
            <a:srgbClr val="0B1A1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4871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05840" y="241401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retrieves maintenance history (incidents, inspections, work orders)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2944368"/>
            <a:ext cx="237744" cy="237744"/>
          </a:xfrm>
          <a:prstGeom prst="ellipse">
            <a:avLst/>
          </a:prstGeom>
          <a:solidFill>
            <a:srgbClr val="0B1A1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9443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005840" y="287121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searches OEM manuals — top-8 chunks by cosine similarity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0080" y="3401568"/>
            <a:ext cx="237744" cy="237744"/>
          </a:xfrm>
          <a:prstGeom prst="ellipse">
            <a:avLst/>
          </a:prstGeom>
          <a:solidFill>
            <a:srgbClr val="0B1A1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401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005840" y="332841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 score failure probability against equipment baselines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0080" y="3858768"/>
            <a:ext cx="237744" cy="237744"/>
          </a:xfrm>
          <a:prstGeom prst="ellipse">
            <a:avLst/>
          </a:prstGeom>
          <a:solidFill>
            <a:srgbClr val="0B1A1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3858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005840" y="378561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 AI 105B reasons over combined evidence (12,000-char context)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0080" y="4315968"/>
            <a:ext cx="237744" cy="237744"/>
          </a:xfrm>
          <a:prstGeom prst="ellipse">
            <a:avLst/>
          </a:prstGeom>
          <a:solidFill>
            <a:srgbClr val="0B1A1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4315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005840" y="424281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recommendation returned with citations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0080" y="5806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recommendation is backed by data, documentation, and AI.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980176" y="1645920"/>
            <a:ext cx="5641848" cy="3223776"/>
          </a:xfrm>
          <a:prstGeom prst="roundRect">
            <a:avLst>
              <a:gd name="adj" fmla="val 1702"/>
            </a:avLst>
          </a:prstGeom>
          <a:solidFill>
            <a:srgbClr val="0A0F0F"/>
          </a:solidFill>
          <a:ln/>
          <a:effectLst>
            <a:outerShdw sx="100000" sy="100000" kx="0" ky="0" algn="bl" rotWithShape="0" blurRad="177800" dist="63500" dir="5400000">
              <a:srgbClr val="000000">
                <a:alpha val="22000"/>
              </a:srgbClr>
            </a:outerShdw>
          </a:effectLst>
        </p:spPr>
      </p:sp>
      <p:pic>
        <p:nvPicPr>
          <p:cNvPr id="24" name="Image 1" descr="imgs/img-0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00784"/>
            <a:ext cx="5532120" cy="311404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035040" y="492456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AI Copilot response — 95% confidence, evidence cited from inspection records.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0728655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/  10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40080" y="6309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</a:t>
            </a:r>
            <a:pPr indent="0" marL="0">
              <a:buNone/>
            </a:pPr>
            <a:r>
              <a:rPr lang="en-US" sz="11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Modern AI Infrastructure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architecture from frontend to AI — every layer chosen for performance and reliability.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670048" cy="37033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57400"/>
            <a:ext cx="267004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057400"/>
            <a:ext cx="2670048" cy="5486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331720"/>
            <a:ext cx="2670048" cy="2743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57400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83464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19.2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327355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371246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415137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 3.8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459028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 1.18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502920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 12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0" y="2057400"/>
            <a:ext cx="2670048" cy="37033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0" y="2057400"/>
            <a:ext cx="267004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" name="Shape 16"/>
          <p:cNvSpPr/>
          <p:nvPr/>
        </p:nvSpPr>
        <p:spPr>
          <a:xfrm>
            <a:off x="3474720" y="2057400"/>
            <a:ext cx="2670048" cy="5486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/>
        </p:spPr>
      </p:sp>
      <p:sp>
        <p:nvSpPr>
          <p:cNvPr id="19" name="Shape 17"/>
          <p:cNvSpPr/>
          <p:nvPr/>
        </p:nvSpPr>
        <p:spPr>
          <a:xfrm>
            <a:off x="3474720" y="2331720"/>
            <a:ext cx="2670048" cy="2743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2057400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03320" y="283464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03320" y="327355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703320" y="371246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v2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703320" y="415137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15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2057400"/>
            <a:ext cx="2670048" cy="37033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9360" y="2057400"/>
            <a:ext cx="267004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7" name="Shape 25"/>
          <p:cNvSpPr/>
          <p:nvPr/>
        </p:nvSpPr>
        <p:spPr>
          <a:xfrm>
            <a:off x="6309360" y="2057400"/>
            <a:ext cx="2670048" cy="5486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/>
        </p:spPr>
      </p:sp>
      <p:sp>
        <p:nvSpPr>
          <p:cNvPr id="28" name="Shape 26"/>
          <p:cNvSpPr/>
          <p:nvPr/>
        </p:nvSpPr>
        <p:spPr>
          <a:xfrm>
            <a:off x="6309360" y="2331720"/>
            <a:ext cx="2670048" cy="2743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2057400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Retrieval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37960" y="283464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37960" y="327355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Sentence-Transformers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537960" y="371246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all-MiniLM-L6-v2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37960" y="415137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 AI 105B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37960" y="459028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144000" y="2057400"/>
            <a:ext cx="2670048" cy="37033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144000" y="2057400"/>
            <a:ext cx="267004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7" name="Shape 35"/>
          <p:cNvSpPr/>
          <p:nvPr/>
        </p:nvSpPr>
        <p:spPr>
          <a:xfrm>
            <a:off x="9144000" y="2057400"/>
            <a:ext cx="2670048" cy="5486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/>
        </p:spPr>
      </p:sp>
      <p:sp>
        <p:nvSpPr>
          <p:cNvPr id="38" name="Shape 36"/>
          <p:cNvSpPr/>
          <p:nvPr/>
        </p:nvSpPr>
        <p:spPr>
          <a:xfrm>
            <a:off x="9144000" y="2331720"/>
            <a:ext cx="2670048" cy="2743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9" name="Text 37"/>
          <p:cNvSpPr/>
          <p:nvPr/>
        </p:nvSpPr>
        <p:spPr>
          <a:xfrm>
            <a:off x="9144000" y="2057400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372600" y="283464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372600" y="327355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372600" y="371246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372600" y="415137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pypdf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0080" y="629107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Containerised deployment · clear tier separation · stateless ML serving.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728655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0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/ 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bg_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Industrial Scale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operational data, ingested and reasoned over by a unified platform.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2523744" cy="1417320"/>
          </a:xfrm>
          <a:prstGeom prst="roundRect">
            <a:avLst>
              <a:gd name="adj" fmla="val 6452"/>
            </a:avLst>
          </a:prstGeom>
          <a:solidFill>
            <a:srgbClr val="0E1414"/>
          </a:solidFill>
          <a:ln w="12700">
            <a:solidFill>
              <a:srgbClr val="1E2B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313432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40080" y="308152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Assets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46704" y="2148840"/>
            <a:ext cx="2523744" cy="1417320"/>
          </a:xfrm>
          <a:prstGeom prst="roundRect">
            <a:avLst>
              <a:gd name="adj" fmla="val 6452"/>
            </a:avLst>
          </a:prstGeom>
          <a:solidFill>
            <a:srgbClr val="0E1414"/>
          </a:solidFill>
          <a:ln w="12700">
            <a:solidFill>
              <a:srgbClr val="1E2B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46704" y="2313432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3346704" y="308152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Orders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53328" y="2148840"/>
            <a:ext cx="2523744" cy="1417320"/>
          </a:xfrm>
          <a:prstGeom prst="roundRect">
            <a:avLst>
              <a:gd name="adj" fmla="val 6452"/>
            </a:avLst>
          </a:prstGeom>
          <a:solidFill>
            <a:srgbClr val="0E1414"/>
          </a:solidFill>
          <a:ln w="12700">
            <a:solidFill>
              <a:srgbClr val="1E2B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313432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6053328" y="308152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Reports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759952" y="2148840"/>
            <a:ext cx="2523744" cy="1417320"/>
          </a:xfrm>
          <a:prstGeom prst="roundRect">
            <a:avLst>
              <a:gd name="adj" fmla="val 6452"/>
            </a:avLst>
          </a:prstGeom>
          <a:solidFill>
            <a:srgbClr val="0E1414"/>
          </a:solidFill>
          <a:ln w="12700">
            <a:solidFill>
              <a:srgbClr val="1E2B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59952" y="2313432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8759952" y="308152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Reports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0080" y="3749040"/>
            <a:ext cx="2523744" cy="1417320"/>
          </a:xfrm>
          <a:prstGeom prst="roundRect">
            <a:avLst>
              <a:gd name="adj" fmla="val 6452"/>
            </a:avLst>
          </a:prstGeom>
          <a:solidFill>
            <a:srgbClr val="0E1414"/>
          </a:solidFill>
          <a:ln w="12700">
            <a:solidFill>
              <a:srgbClr val="1E2B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3913632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640080" y="468172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Manuals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346704" y="3749040"/>
            <a:ext cx="2523744" cy="1417320"/>
          </a:xfrm>
          <a:prstGeom prst="roundRect">
            <a:avLst>
              <a:gd name="adj" fmla="val 6452"/>
            </a:avLst>
          </a:prstGeom>
          <a:solidFill>
            <a:srgbClr val="0E1414"/>
          </a:solidFill>
          <a:ln w="12700">
            <a:solidFill>
              <a:srgbClr val="1E2B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46704" y="3913632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3346704" y="468172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053328" y="3749040"/>
            <a:ext cx="2523744" cy="1417320"/>
          </a:xfrm>
          <a:prstGeom prst="roundRect">
            <a:avLst>
              <a:gd name="adj" fmla="val 6452"/>
            </a:avLst>
          </a:prstGeom>
          <a:solidFill>
            <a:srgbClr val="0E1414"/>
          </a:solidFill>
          <a:ln w="12700">
            <a:solidFill>
              <a:srgbClr val="1E2B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53328" y="3913632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3600" dirty="0"/>
          </a:p>
        </p:txBody>
      </p:sp>
      <p:sp>
        <p:nvSpPr>
          <p:cNvPr id="26" name="Text 23"/>
          <p:cNvSpPr/>
          <p:nvPr/>
        </p:nvSpPr>
        <p:spPr>
          <a:xfrm>
            <a:off x="6053328" y="468172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759952" y="3749040"/>
            <a:ext cx="2523744" cy="1417320"/>
          </a:xfrm>
          <a:prstGeom prst="roundRect">
            <a:avLst>
              <a:gd name="adj" fmla="val 6452"/>
            </a:avLst>
          </a:prstGeom>
          <a:solidFill>
            <a:srgbClr val="0E1414"/>
          </a:solidFill>
          <a:ln w="12700">
            <a:solidFill>
              <a:srgbClr val="1E2B2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759952" y="3913632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29" name="Text 26"/>
          <p:cNvSpPr/>
          <p:nvPr/>
        </p:nvSpPr>
        <p:spPr>
          <a:xfrm>
            <a:off x="8759952" y="468172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Platform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40080" y="59893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Maintenance</a:t>
            </a:r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Intelligence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0728655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/  10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40080" y="6309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</a:t>
            </a:r>
            <a:pPr indent="0" marL="0">
              <a:buNone/>
            </a:pPr>
            <a:r>
              <a:rPr lang="en-US" sz="11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AssetMind Goes Next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56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platform. Tomorrow's autonomous maintenance ecosystem.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4564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58568"/>
            <a:ext cx="457200" cy="457200"/>
          </a:xfrm>
          <a:prstGeom prst="ellipse">
            <a:avLst/>
          </a:prstGeom>
          <a:solidFill>
            <a:srgbClr val="E8F4F2"/>
          </a:solidFill>
          <a:ln/>
        </p:spPr>
      </p:sp>
      <p:pic>
        <p:nvPicPr>
          <p:cNvPr id="7" name="Image 0" descr="icons/wifi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368296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2221992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Sensors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1248" y="2743200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/ OPC-UA real-time streams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096512" y="25831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52544" y="2057400"/>
            <a:ext cx="34564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53712" y="2258568"/>
            <a:ext cx="457200" cy="457200"/>
          </a:xfrm>
          <a:prstGeom prst="ellipse">
            <a:avLst/>
          </a:prstGeom>
          <a:solidFill>
            <a:srgbClr val="E8F4F2"/>
          </a:solidFill>
          <a:ln/>
        </p:spPr>
      </p:sp>
      <p:pic>
        <p:nvPicPr>
          <p:cNvPr id="13" name="Image 1" descr="icons/clon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36829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57216" y="2221992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53712" y="2743200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Forward-looking degradation models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7808976" y="25831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65008" y="2057400"/>
            <a:ext cx="34564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66176" y="2258568"/>
            <a:ext cx="457200" cy="457200"/>
          </a:xfrm>
          <a:prstGeom prst="ellipse">
            <a:avLst/>
          </a:prstGeom>
          <a:solidFill>
            <a:srgbClr val="E8F4F2"/>
          </a:solidFill>
          <a:ln/>
        </p:spPr>
      </p:sp>
      <p:pic>
        <p:nvPicPr>
          <p:cNvPr id="19" name="Image 2" descr="icons/networ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2368296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69680" y="2221992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PM Integration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266176" y="2743200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with existing CMMS investments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40080" y="3730752"/>
            <a:ext cx="34564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41248" y="3931920"/>
            <a:ext cx="457200" cy="457200"/>
          </a:xfrm>
          <a:prstGeom prst="ellipse">
            <a:avLst/>
          </a:prstGeom>
          <a:solidFill>
            <a:srgbClr val="E8F4F2"/>
          </a:solidFill>
          <a:ln/>
        </p:spPr>
      </p:sp>
      <p:pic>
        <p:nvPicPr>
          <p:cNvPr id="24" name="Image 3" descr="icons/users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041648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44752" y="3895344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Orchestration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41248" y="4416552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Planner, retrieval, reasoning agents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4096512" y="425653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4352544" y="3730752"/>
            <a:ext cx="34564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53712" y="3931920"/>
            <a:ext cx="457200" cy="457200"/>
          </a:xfrm>
          <a:prstGeom prst="ellipse">
            <a:avLst/>
          </a:prstGeom>
          <a:solidFill>
            <a:srgbClr val="E8F4F2"/>
          </a:solidFill>
          <a:ln/>
        </p:spPr>
      </p:sp>
      <p:pic>
        <p:nvPicPr>
          <p:cNvPr id="30" name="Image 4" descr="icons/chip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041648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157216" y="3895344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AI Deployment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4553712" y="4416552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inference at the PLC gateway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7808976" y="425653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8065008" y="3730752"/>
            <a:ext cx="34564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266176" y="3931920"/>
            <a:ext cx="457200" cy="457200"/>
          </a:xfrm>
          <a:prstGeom prst="ellipse">
            <a:avLst/>
          </a:prstGeom>
          <a:solidFill>
            <a:srgbClr val="E8F4F2"/>
          </a:solidFill>
          <a:ln/>
        </p:spPr>
      </p:sp>
      <p:pic>
        <p:nvPicPr>
          <p:cNvPr id="36" name="Image 5" descr="icons/chart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5904" y="4041648"/>
            <a:ext cx="237744" cy="23774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869680" y="3895344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Scheduling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8266176" y="4416552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 work orders from RUL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640080" y="629107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roadmap toward autonomous industrial intelligence.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10728655" y="6355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0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/ 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bg_clo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286000"/>
            <a:ext cx="99971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future of maintenance isn’t more data.</a:t>
            </a:r>
            <a:endParaRPr lang="en-US" sz="2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better decisions."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0" y="41605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</a:t>
            </a:r>
            <a:pPr algn="ctr" indent="0" marL="0">
              <a:buNone/>
            </a:pPr>
            <a:r>
              <a:rPr lang="en-US" sz="24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AssetMind is building the future of industrial intelligence.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318608" y="562356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0B1A18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18608" y="5623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github.com/tasneem38/AssetMind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AssetMind — AI-Powered Industrial Asset Intelligence Platform</dc:title>
  <dc:subject>PptxGenJS Presentation</dc:subject>
  <dc:creator>Team Crew1.0</dc:creator>
  <cp:lastModifiedBy>Team Crew1.0</cp:lastModifiedBy>
  <cp:revision>1</cp:revision>
  <dcterms:created xsi:type="dcterms:W3CDTF">2026-06-26T20:40:23Z</dcterms:created>
  <dcterms:modified xsi:type="dcterms:W3CDTF">2026-06-26T20:40:23Z</dcterms:modified>
</cp:coreProperties>
</file>